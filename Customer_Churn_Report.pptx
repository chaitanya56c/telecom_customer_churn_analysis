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6CDB6C-135E-4E62-A353-2270A84FA8AB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5A5E3A-BF30-49CB-B8B2-A4E3059EA56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dirty="0" err="1" smtClean="0"/>
              <a:t>S.Chaitanya</a:t>
            </a:r>
            <a:r>
              <a:rPr lang="en-IN" dirty="0" smtClean="0"/>
              <a:t> | Telecom Customer</a:t>
            </a:r>
            <a:r>
              <a:rPr lang="en-IN" baseline="0" dirty="0" smtClean="0"/>
              <a:t> Churn Analysis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5A5E3A-BF30-49CB-B8B2-A4E3059EA560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F373C-2BC0-4DC8-BC2E-A4EDB8144B15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87A0D-690D-49B6-9A0B-ACD664C60BC7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F373C-2BC0-4DC8-BC2E-A4EDB8144B15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87A0D-690D-49B6-9A0B-ACD664C60BC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F373C-2BC0-4DC8-BC2E-A4EDB8144B15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87A0D-690D-49B6-9A0B-ACD664C60BC7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F373C-2BC0-4DC8-BC2E-A4EDB8144B15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87A0D-690D-49B6-9A0B-ACD664C60BC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F373C-2BC0-4DC8-BC2E-A4EDB8144B15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87A0D-690D-49B6-9A0B-ACD664C60BC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F373C-2BC0-4DC8-BC2E-A4EDB8144B15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87A0D-690D-49B6-9A0B-ACD664C60BC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F373C-2BC0-4DC8-BC2E-A4EDB8144B15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87A0D-690D-49B6-9A0B-ACD664C60BC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F373C-2BC0-4DC8-BC2E-A4EDB8144B15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87A0D-690D-49B6-9A0B-ACD664C60BC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F373C-2BC0-4DC8-BC2E-A4EDB8144B15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D8487A0D-690D-49B6-9A0B-ACD664C60BC7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F373C-2BC0-4DC8-BC2E-A4EDB8144B15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87A0D-690D-49B6-9A0B-ACD664C60BC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F373C-2BC0-4DC8-BC2E-A4EDB8144B15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87A0D-690D-49B6-9A0B-ACD664C60BC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40FF373C-2BC0-4DC8-BC2E-A4EDB8144B15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D8487A0D-690D-49B6-9A0B-ACD664C60BC7}" type="slidenum">
              <a:rPr lang="en-US" smtClean="0"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8596" y="1643050"/>
            <a:ext cx="8143932" cy="182880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FFFF00"/>
                </a:solidFill>
              </a:rPr>
              <a:t/>
            </a:r>
            <a:br>
              <a:rPr lang="en-US" dirty="0" smtClean="0">
                <a:solidFill>
                  <a:srgbClr val="FFFF00"/>
                </a:solidFill>
              </a:rPr>
            </a:br>
            <a:r>
              <a:rPr lang="en-US" dirty="0" smtClean="0">
                <a:solidFill>
                  <a:srgbClr val="FFFF00"/>
                </a:solidFill>
              </a:rPr>
              <a:t> </a:t>
            </a:r>
            <a:r>
              <a:rPr lang="en-US" sz="4000" b="1" dirty="0" smtClean="0">
                <a:solidFill>
                  <a:srgbClr val="FFFF00"/>
                </a:solidFill>
              </a:rPr>
              <a:t>Customer Churn Analysis for Telecom Industry </a:t>
            </a:r>
            <a:r>
              <a:rPr lang="en-US" dirty="0" smtClean="0">
                <a:solidFill>
                  <a:srgbClr val="FFFF00"/>
                </a:solidFill>
              </a:rPr>
              <a:t/>
            </a:r>
            <a:br>
              <a:rPr lang="en-US" dirty="0" smtClean="0">
                <a:solidFill>
                  <a:srgbClr val="FFFF00"/>
                </a:solidFill>
              </a:rPr>
            </a:b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2976" y="3071810"/>
            <a:ext cx="7215238" cy="1042998"/>
          </a:xfrm>
        </p:spPr>
        <p:txBody>
          <a:bodyPr>
            <a:noAutofit/>
          </a:bodyPr>
          <a:lstStyle/>
          <a:p>
            <a:r>
              <a:rPr lang="en-US" sz="3200" b="1" dirty="0" smtClean="0"/>
              <a:t>Predicting customer churn using data analytics</a:t>
            </a:r>
            <a:endParaRPr lang="en-US" sz="32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85860"/>
            <a:ext cx="8305800" cy="561228"/>
          </a:xfrm>
        </p:spPr>
        <p:txBody>
          <a:bodyPr>
            <a:noAutofit/>
          </a:bodyPr>
          <a:lstStyle/>
          <a:p>
            <a:r>
              <a:rPr lang="en-IN" sz="3600" dirty="0" smtClean="0"/>
              <a:t>                               OBJECTIVE</a:t>
            </a:r>
            <a:endParaRPr lang="en-US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571472" y="2571744"/>
            <a:ext cx="778674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Objective :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/>
              <a:t> </a:t>
            </a:r>
            <a:r>
              <a:rPr lang="en-US" sz="2000" dirty="0" smtClean="0"/>
              <a:t>Analyze customer behavior in a telecom company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/>
              <a:t> Predict customer churn using machine learning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/>
              <a:t> Identify actionable strategies to reduce churn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28670"/>
            <a:ext cx="8305800" cy="714380"/>
          </a:xfrm>
        </p:spPr>
        <p:txBody>
          <a:bodyPr>
            <a:normAutofit/>
          </a:bodyPr>
          <a:lstStyle/>
          <a:p>
            <a:r>
              <a:rPr lang="en-US" sz="3600" dirty="0" smtClean="0"/>
              <a:t>                   DATASET </a:t>
            </a:r>
            <a:r>
              <a:rPr lang="en-US" sz="3600" dirty="0" smtClean="0"/>
              <a:t>&amp; TOOLS</a:t>
            </a:r>
            <a:endParaRPr lang="en-US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785786" y="2357430"/>
            <a:ext cx="778674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000" dirty="0" smtClean="0"/>
              <a:t> Dataset:</a:t>
            </a:r>
          </a:p>
          <a:p>
            <a:r>
              <a:rPr lang="en-US" sz="2000" dirty="0" smtClean="0"/>
              <a:t> Telecom Customer Churn dataset</a:t>
            </a:r>
          </a:p>
          <a:p>
            <a:r>
              <a:rPr lang="en-US" sz="2000" dirty="0" smtClean="0"/>
              <a:t> Contains customer demographics, services, and billing details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/>
              <a:t> Tools Used:</a:t>
            </a:r>
          </a:p>
          <a:p>
            <a:r>
              <a:rPr lang="en-US" sz="2000" dirty="0" smtClean="0"/>
              <a:t> SQL (data cleaning &amp; aggregation)</a:t>
            </a:r>
          </a:p>
          <a:p>
            <a:r>
              <a:rPr lang="en-US" sz="2000" dirty="0" smtClean="0"/>
              <a:t> Python (Pandas, </a:t>
            </a:r>
            <a:r>
              <a:rPr lang="en-US" sz="2000" dirty="0" err="1" smtClean="0"/>
              <a:t>Seaborn</a:t>
            </a:r>
            <a:r>
              <a:rPr lang="en-US" sz="2000" dirty="0" smtClean="0"/>
              <a:t>, </a:t>
            </a:r>
            <a:r>
              <a:rPr lang="en-US" sz="2000" dirty="0" err="1" smtClean="0"/>
              <a:t>Scikit</a:t>
            </a:r>
            <a:r>
              <a:rPr lang="en-US" sz="2000" dirty="0" smtClean="0"/>
              <a:t>-learn)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857232"/>
            <a:ext cx="8305800" cy="704104"/>
          </a:xfrm>
        </p:spPr>
        <p:txBody>
          <a:bodyPr>
            <a:normAutofit/>
          </a:bodyPr>
          <a:lstStyle/>
          <a:p>
            <a:r>
              <a:rPr lang="en-US" sz="3600" dirty="0" smtClean="0"/>
              <a:t>                 KEY </a:t>
            </a:r>
            <a:r>
              <a:rPr lang="en-US" sz="3600" dirty="0" smtClean="0"/>
              <a:t>BUSINESS INSIGHTS</a:t>
            </a:r>
            <a:endParaRPr lang="en-US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714348" y="1785926"/>
            <a:ext cx="7143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 </a:t>
            </a:r>
            <a:r>
              <a:rPr lang="en-US" sz="2000" dirty="0" smtClean="0"/>
              <a:t>Overall churn rate: 26.5%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/>
              <a:t> Month-to-month contract customers have the highest churn (42.7%)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/>
              <a:t> Two-year contract customers show the lowest churn (</a:t>
            </a:r>
            <a:r>
              <a:rPr lang="en-US" sz="2000" dirty="0"/>
              <a:t>2</a:t>
            </a:r>
            <a:r>
              <a:rPr lang="en-US" sz="2000" dirty="0" smtClean="0"/>
              <a:t>.8%)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/>
              <a:t> Contract type and tenure strongly influence churn</a:t>
            </a:r>
            <a:endParaRPr lang="en-US" sz="2000" dirty="0"/>
          </a:p>
        </p:txBody>
      </p:sp>
      <p:pic>
        <p:nvPicPr>
          <p:cNvPr id="4" name="Picture 3" descr="Screenshot 2025-12-23 1354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166" y="3571876"/>
            <a:ext cx="5143536" cy="309601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938962"/>
          </a:xfrm>
        </p:spPr>
        <p:txBody>
          <a:bodyPr/>
          <a:lstStyle/>
          <a:p>
            <a:r>
              <a:rPr lang="en-US" dirty="0" smtClean="0"/>
              <a:t>          MODEL </a:t>
            </a:r>
            <a:r>
              <a:rPr lang="en-US" dirty="0" smtClean="0"/>
              <a:t>&amp; RESULTS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142976" y="1928802"/>
            <a:ext cx="64294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 Model Used:</a:t>
            </a:r>
          </a:p>
          <a:p>
            <a:r>
              <a:rPr lang="en-US" dirty="0" smtClean="0"/>
              <a:t>  Logistic Regression (Binary Classification)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Results:</a:t>
            </a:r>
          </a:p>
          <a:p>
            <a:r>
              <a:rPr lang="en-US" dirty="0" smtClean="0"/>
              <a:t>  Model accuracy: ~80%</a:t>
            </a:r>
          </a:p>
          <a:p>
            <a:r>
              <a:rPr lang="en-US" dirty="0" smtClean="0"/>
              <a:t>  Key predictors: tenure, contract type, monthly charges</a:t>
            </a:r>
            <a:endParaRPr lang="en-US" dirty="0"/>
          </a:p>
        </p:txBody>
      </p:sp>
      <p:pic>
        <p:nvPicPr>
          <p:cNvPr id="4" name="Picture 3" descr="Screenshot (140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32" y="3500438"/>
            <a:ext cx="5000660" cy="31432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          CUSTOMER </a:t>
            </a:r>
            <a:r>
              <a:rPr lang="en-US" sz="3600" dirty="0" smtClean="0"/>
              <a:t>SEGMENTATION</a:t>
            </a:r>
            <a:endParaRPr lang="en-US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714348" y="2143116"/>
            <a:ext cx="67151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000" dirty="0" smtClean="0"/>
              <a:t> Customer  Segments :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 smtClean="0"/>
              <a:t>At Risk: High probability of churn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 smtClean="0"/>
              <a:t> Dormant : Low tenure and low engagement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 smtClean="0"/>
              <a:t> Loyal : Long-term retained customers</a:t>
            </a:r>
            <a:endParaRPr lang="en-US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642910" y="3643314"/>
            <a:ext cx="785818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IN" sz="2000" dirty="0" smtClean="0"/>
              <a:t> Purpose of Segmentation 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To prioritize retention efforts instead of treating all customers the same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To reduce churn by focusing on high-risk customers first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To help the business design targeted offers, discounts, and engagement plans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To optimize marketing and retention costs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1142984"/>
            <a:ext cx="8305800" cy="704104"/>
          </a:xfrm>
        </p:spPr>
        <p:txBody>
          <a:bodyPr>
            <a:normAutofit/>
          </a:bodyPr>
          <a:lstStyle/>
          <a:p>
            <a:r>
              <a:rPr lang="en-US" sz="3600" dirty="0" smtClean="0"/>
              <a:t>   RECOMMENDATIONS &amp; CONCLUSION</a:t>
            </a:r>
            <a:endParaRPr lang="en-US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714348" y="2285992"/>
            <a:ext cx="71438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 </a:t>
            </a:r>
            <a:r>
              <a:rPr lang="en-US" sz="2000" dirty="0" smtClean="0"/>
              <a:t>Recommendations:</a:t>
            </a:r>
          </a:p>
          <a:p>
            <a:r>
              <a:rPr lang="en-US" sz="2000" dirty="0" smtClean="0"/>
              <a:t>  Encourage long-term contracts </a:t>
            </a:r>
          </a:p>
          <a:p>
            <a:r>
              <a:rPr lang="en-US" sz="2000" dirty="0" smtClean="0"/>
              <a:t>  Offer retention plans for month-to-month users</a:t>
            </a:r>
          </a:p>
          <a:p>
            <a:r>
              <a:rPr lang="en-US" sz="2000" dirty="0"/>
              <a:t> </a:t>
            </a:r>
            <a:r>
              <a:rPr lang="en-US" sz="2000" dirty="0" smtClean="0"/>
              <a:t> Re-engage dormant customers with offers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/>
              <a:t> Conclusion:</a:t>
            </a:r>
          </a:p>
          <a:p>
            <a:r>
              <a:rPr lang="en-US" sz="2000" dirty="0" smtClean="0"/>
              <a:t>  Data-driven insights can significantly reduce customer churn</a:t>
            </a:r>
          </a:p>
          <a:p>
            <a:r>
              <a:rPr lang="en-US" sz="2000" dirty="0" smtClean="0"/>
              <a:t>  Predictive models help identify high-risk customers early</a:t>
            </a:r>
            <a:endParaRPr lang="en-US" sz="20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</TotalTime>
  <Words>274</Words>
  <Application>Microsoft Office PowerPoint</Application>
  <PresentationFormat>On-screen Show (4:3)</PresentationFormat>
  <Paragraphs>45</Paragraphs>
  <Slides>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Flow</vt:lpstr>
      <vt:lpstr>  Customer Churn Analysis for Telecom Industry  </vt:lpstr>
      <vt:lpstr>                               OBJECTIVE</vt:lpstr>
      <vt:lpstr>                   DATASET &amp; TOOLS</vt:lpstr>
      <vt:lpstr>                 KEY BUSINESS INSIGHTS</vt:lpstr>
      <vt:lpstr>          MODEL &amp; RESULTS</vt:lpstr>
      <vt:lpstr>          CUSTOMER SEGMENTATION</vt:lpstr>
      <vt:lpstr>   RECOMMENDATIONS &amp; CONCLUSION</vt:lpstr>
    </vt:vector>
  </TitlesOfParts>
  <Company>HP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vennela</dc:creator>
  <cp:lastModifiedBy>vennela</cp:lastModifiedBy>
  <cp:revision>9</cp:revision>
  <dcterms:created xsi:type="dcterms:W3CDTF">2025-12-23T07:40:07Z</dcterms:created>
  <dcterms:modified xsi:type="dcterms:W3CDTF">2025-12-23T09:07:24Z</dcterms:modified>
</cp:coreProperties>
</file>